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x="12192000" cy="6858000" type="screen16x9"/>
  <p:notesSz cx="6858000" cy="9144000"/>
  <p:defaultTextStyle>
    <a:defPPr>
      <a:defRPr lang="en-US" sz="1800">
        <a:latin typeface="Arial"/>
        <a:ea typeface="Arial"/>
        <a:cs typeface="Arial"/>
      </a:defRPr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>
    <p:restoredLeft sz="15620"/>
    <p:restoredTop sz="94660"/>
  </p:normalViewPr>
  <p:slideViewPr>
    <p:cSldViewPr>
      <p:cViewPr varScale="1">
        <p:scale>
          <a:sx n="1" d="1"/>
          <a:sy n="1" d="1"/>
        </p:scale>
        <p:origin x="0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ableStyles" Target="tableStyles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Blank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>
      <a:lvl1pPr algn="l">
        <a:defRPr lang="en-US" sz="3200" b="1">
          <a:solidFill>
            <a:srgbClr val="000000"/>
          </a:solidFill>
          <a:latin typeface="Arial"/>
          <a:ea typeface="Arial"/>
          <a:cs typeface="Arial"/>
        </a:defRPr>
      </a:lvl1pPr>
    </p:titleStyle>
    <p:bodyStyle>
      <a:lvl1pPr algn="l">
        <a:defRPr lang="en-US" sz="1800" b="0">
          <a:solidFill>
            <a:srgbClr val="000000"/>
          </a:solidFill>
          <a:latin typeface="Arial"/>
          <a:ea typeface="Arial"/>
          <a:cs typeface="Arial"/>
        </a:defRPr>
      </a:lvl1pPr>
    </p:bodyStyle>
    <p:otherStyle>
      <a:lvl1pPr algn="l">
        <a:defRPr lang="en-US" sz="1800" b="0">
          <a:solidFill>
            <a:srgbClr val="000000"/>
          </a:solidFill>
          <a:latin typeface="Arial"/>
          <a:ea typeface="Arial"/>
          <a:cs typeface="Arial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set surface"/>
          <p:cNvSpPr/>
          <p:nvPr/>
        </p:nvSpPr>
        <p:spPr>
          <a:xfrm>
            <a:off x="162560" y="162560"/>
            <a:ext cx="11866880" cy="6532880"/>
          </a:xfrm>
          <a:prstGeom prst="roundRect">
            <a:avLst>
              <a:gd name="adj" fmla="val 2488"/>
            </a:avLst>
          </a:prstGeom>
          <a:solidFill>
            <a:srgbClr val="FFF9EF"/>
          </a:solidFill>
          <a:ln w="10160" cap="rnd">
            <a:solidFill>
              <a:srgbClr val="F2E3D5"/>
            </a:solidFill>
            <a:prstDash val="solid"/>
          </a:ln>
        </p:spPr>
      </p:sp>
      <p:sp>
        <p:nvSpPr>
          <p:cNvPr id="3" name="Block 1 text"/>
          <p:cNvSpPr txBox="1"/>
          <p:nvPr/>
        </p:nvSpPr>
        <p:spPr>
          <a:xfrm>
            <a:off x="650240" y="508000"/>
            <a:ext cx="10891520" cy="1117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fontAlgn="base">
              <a:lnSpc>
                <a:spcPct val="139130"/>
              </a:lnSpc>
              <a:buNone/>
            </a:pPr>
            <a:r>
              <a:rPr lang="en-US" sz="288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 xml:space="preserve">Algebra I — Explain and solve two-step equations (SCHO-255)</a:t>
            </a:r>
            <a:endParaRPr lang="en-US" sz="2880" b="1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Block 2 text"/>
          <p:cNvSpPr txBox="1"/>
          <p:nvPr/>
        </p:nvSpPr>
        <p:spPr>
          <a:xfrm>
            <a:off x="650240" y="1828800"/>
            <a:ext cx="10891520" cy="3759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fontAlgn="base">
              <a:lnSpc>
                <a:spcPct val="139130"/>
              </a:lnSpc>
              <a:buNone/>
            </a:pPr>
            <a:r>
              <a:rPr lang="en-US" sz="1920" b="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 xml:space="preserve">Algebra I</a:t>
            </a:r>
            <a:br/>
            <a:r>
              <a:rPr lang="en-US" sz="1920" b="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 xml:space="preserve">10 points · Published assignment</a:t>
            </a:r>
            <a:br/>
            <a:r>
              <a:rPr lang="en-US" sz="1920" b="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 xml:space="preserve">Teacher-authorized presentation</a:t>
            </a:r>
            <a:endParaRPr lang="en-US" sz="1920" b="0" dirty="0">
              <a:solidFill>
                <a:srgbClr val="22222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Block 3 text"/>
          <p:cNvSpPr txBox="1"/>
          <p:nvPr/>
        </p:nvSpPr>
        <p:spPr>
          <a:xfrm>
            <a:off x="650240" y="6197600"/>
            <a:ext cx="1089152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fontAlgn="base">
              <a:lnSpc>
                <a:spcPct val="139130"/>
              </a:lnSpc>
              <a:buNone/>
            </a:pPr>
            <a:r>
              <a:rPr lang="en-US" sz="960" b="0" dirty="0">
                <a:solidFill>
                  <a:srgbClr val="555555"/>
                </a:solidFill>
                <a:latin typeface="Arial"/>
                <a:ea typeface="Arial"/>
                <a:cs typeface="Arial"/>
              </a:rPr>
              <a:t xml:space="preserve">1/7 · Course 896141390025 · Work 896261051224 · 2026-10-28T04:52:49.354Z</a:t>
            </a:r>
            <a:endParaRPr lang="en-US" sz="960" b="0" dirty="0">
              <a:solidFill>
                <a:srgbClr val="555555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set surface"/>
          <p:cNvSpPr/>
          <p:nvPr/>
        </p:nvSpPr>
        <p:spPr>
          <a:xfrm>
            <a:off x="162560" y="162560"/>
            <a:ext cx="11866880" cy="6532880"/>
          </a:xfrm>
          <a:prstGeom prst="roundRect">
            <a:avLst>
              <a:gd name="adj" fmla="val 2488"/>
            </a:avLst>
          </a:prstGeom>
          <a:solidFill>
            <a:srgbClr val="FFF9EF"/>
          </a:solidFill>
          <a:ln w="10160" cap="rnd">
            <a:solidFill>
              <a:srgbClr val="F2E3D5"/>
            </a:solidFill>
            <a:prstDash val="solid"/>
          </a:ln>
        </p:spPr>
      </p:sp>
      <p:sp>
        <p:nvSpPr>
          <p:cNvPr id="3" name="Block 1 text"/>
          <p:cNvSpPr txBox="1"/>
          <p:nvPr/>
        </p:nvSpPr>
        <p:spPr>
          <a:xfrm>
            <a:off x="650240" y="508000"/>
            <a:ext cx="10891520" cy="1117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fontAlgn="base">
              <a:lnSpc>
                <a:spcPct val="139130"/>
              </a:lnSpc>
              <a:buNone/>
            </a:pPr>
            <a:r>
              <a:rPr lang="en-US" sz="288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 xml:space="preserve">Learning goal</a:t>
            </a:r>
            <a:endParaRPr lang="en-US" sz="2880" b="1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Block 2 text"/>
          <p:cNvSpPr txBox="1"/>
          <p:nvPr/>
        </p:nvSpPr>
        <p:spPr>
          <a:xfrm>
            <a:off x="650240" y="1828800"/>
            <a:ext cx="10891520" cy="3759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fontAlgn="base">
              <a:lnSpc>
                <a:spcPct val="139130"/>
              </a:lnSpc>
              <a:buNone/>
            </a:pPr>
            <a:r>
              <a:rPr lang="en-US" sz="1920" b="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 xml:space="preserve">solve two-step equations and justify equivalent operations</a:t>
            </a:r>
            <a:endParaRPr lang="en-US" sz="1920" b="0" dirty="0">
              <a:solidFill>
                <a:srgbClr val="22222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Block 3 text"/>
          <p:cNvSpPr txBox="1"/>
          <p:nvPr/>
        </p:nvSpPr>
        <p:spPr>
          <a:xfrm>
            <a:off x="650240" y="6197600"/>
            <a:ext cx="1089152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fontAlgn="base">
              <a:lnSpc>
                <a:spcPct val="139130"/>
              </a:lnSpc>
              <a:buNone/>
            </a:pPr>
            <a:r>
              <a:rPr lang="en-US" sz="960" b="0" dirty="0">
                <a:solidFill>
                  <a:srgbClr val="555555"/>
                </a:solidFill>
                <a:latin typeface="Arial"/>
                <a:ea typeface="Arial"/>
                <a:cs typeface="Arial"/>
              </a:rPr>
              <a:t xml:space="preserve">2/7 · Course 896141390025 · Work 896261051224 · 2026-10-28T04:52:49.354Z</a:t>
            </a:r>
            <a:endParaRPr lang="en-US" sz="960" b="0" dirty="0">
              <a:solidFill>
                <a:srgbClr val="555555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set surface"/>
          <p:cNvSpPr/>
          <p:nvPr/>
        </p:nvSpPr>
        <p:spPr>
          <a:xfrm>
            <a:off x="162560" y="162560"/>
            <a:ext cx="11866880" cy="6532880"/>
          </a:xfrm>
          <a:prstGeom prst="roundRect">
            <a:avLst>
              <a:gd name="adj" fmla="val 2488"/>
            </a:avLst>
          </a:prstGeom>
          <a:solidFill>
            <a:srgbClr val="FFF9EF"/>
          </a:solidFill>
          <a:ln w="10160" cap="rnd">
            <a:solidFill>
              <a:srgbClr val="F2E3D5"/>
            </a:solidFill>
            <a:prstDash val="solid"/>
          </a:ln>
        </p:spPr>
      </p:sp>
      <p:sp>
        <p:nvSpPr>
          <p:cNvPr id="3" name="Block 1 text"/>
          <p:cNvSpPr txBox="1"/>
          <p:nvPr/>
        </p:nvSpPr>
        <p:spPr>
          <a:xfrm>
            <a:off x="650240" y="508000"/>
            <a:ext cx="10891520" cy="1117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fontAlgn="base">
              <a:lnSpc>
                <a:spcPct val="139130"/>
              </a:lnSpc>
              <a:buNone/>
            </a:pPr>
            <a:r>
              <a:rPr lang="en-US" sz="288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 xml:space="preserve">Worked example</a:t>
            </a:r>
            <a:endParaRPr lang="en-US" sz="2880" b="1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Block 2 text"/>
          <p:cNvSpPr txBox="1"/>
          <p:nvPr/>
        </p:nvSpPr>
        <p:spPr>
          <a:xfrm>
            <a:off x="650240" y="1828800"/>
            <a:ext cx="10891520" cy="3759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fontAlgn="base">
              <a:lnSpc>
                <a:spcPct val="139130"/>
              </a:lnSpc>
              <a:buNone/>
            </a:pPr>
            <a:r>
              <a:rPr lang="en-US" sz="1920" b="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 xml:space="preserve">3x + 5 = 20 gives 3x = 15, x = 5; check 3(5)+5=20.</a:t>
            </a:r>
            <a:endParaRPr lang="en-US" sz="1920" b="0" dirty="0">
              <a:solidFill>
                <a:srgbClr val="22222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Block 3 text"/>
          <p:cNvSpPr txBox="1"/>
          <p:nvPr/>
        </p:nvSpPr>
        <p:spPr>
          <a:xfrm>
            <a:off x="650240" y="6197600"/>
            <a:ext cx="1089152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fontAlgn="base">
              <a:lnSpc>
                <a:spcPct val="139130"/>
              </a:lnSpc>
              <a:buNone/>
            </a:pPr>
            <a:r>
              <a:rPr lang="en-US" sz="960" b="0" dirty="0">
                <a:solidFill>
                  <a:srgbClr val="555555"/>
                </a:solidFill>
                <a:latin typeface="Arial"/>
                <a:ea typeface="Arial"/>
                <a:cs typeface="Arial"/>
              </a:rPr>
              <a:t xml:space="preserve">3/7 · Course 896141390025 · Work 896261051224 · 2026-10-28T04:52:49.354Z</a:t>
            </a:r>
            <a:endParaRPr lang="en-US" sz="960" b="0" dirty="0">
              <a:solidFill>
                <a:srgbClr val="555555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set surface"/>
          <p:cNvSpPr/>
          <p:nvPr/>
        </p:nvSpPr>
        <p:spPr>
          <a:xfrm>
            <a:off x="162560" y="162560"/>
            <a:ext cx="11866880" cy="6532880"/>
          </a:xfrm>
          <a:prstGeom prst="roundRect">
            <a:avLst>
              <a:gd name="adj" fmla="val 2488"/>
            </a:avLst>
          </a:prstGeom>
          <a:solidFill>
            <a:srgbClr val="FFF9EF"/>
          </a:solidFill>
          <a:ln w="10160" cap="rnd">
            <a:solidFill>
              <a:srgbClr val="F2E3D5"/>
            </a:solidFill>
            <a:prstDash val="solid"/>
          </a:ln>
        </p:spPr>
      </p:sp>
      <p:sp>
        <p:nvSpPr>
          <p:cNvPr id="3" name="Block 1 text"/>
          <p:cNvSpPr txBox="1"/>
          <p:nvPr/>
        </p:nvSpPr>
        <p:spPr>
          <a:xfrm>
            <a:off x="650240" y="508000"/>
            <a:ext cx="10891520" cy="1117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fontAlgn="base">
              <a:lnSpc>
                <a:spcPct val="139130"/>
              </a:lnSpc>
              <a:buNone/>
            </a:pPr>
            <a:r>
              <a:rPr lang="en-US" sz="288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 xml:space="preserve">Independent practice</a:t>
            </a:r>
            <a:endParaRPr lang="en-US" sz="2880" b="1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Block 2 text"/>
          <p:cNvSpPr txBox="1"/>
          <p:nvPr/>
        </p:nvSpPr>
        <p:spPr>
          <a:xfrm>
            <a:off x="650240" y="1828800"/>
            <a:ext cx="10891520" cy="3759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fontAlgn="base">
              <a:lnSpc>
                <a:spcPct val="139130"/>
              </a:lnSpc>
              <a:buNone/>
            </a:pPr>
            <a:r>
              <a:rPr lang="en-US" sz="1920" b="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 xml:space="preserve">solve 2x+7=15, 4x-3=9, and 5x+2=2x+14. Show each operation on both sides, check each solution by substitution, and explain why the equation remains balanced. Submit a worked solution in Classroom.</a:t>
            </a:r>
            <a:endParaRPr lang="en-US" sz="1920" b="0" dirty="0">
              <a:solidFill>
                <a:srgbClr val="22222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Block 3 text"/>
          <p:cNvSpPr txBox="1"/>
          <p:nvPr/>
        </p:nvSpPr>
        <p:spPr>
          <a:xfrm>
            <a:off x="650240" y="6197600"/>
            <a:ext cx="1089152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fontAlgn="base">
              <a:lnSpc>
                <a:spcPct val="139130"/>
              </a:lnSpc>
              <a:buNone/>
            </a:pPr>
            <a:r>
              <a:rPr lang="en-US" sz="960" b="0" dirty="0">
                <a:solidFill>
                  <a:srgbClr val="555555"/>
                </a:solidFill>
                <a:latin typeface="Arial"/>
                <a:ea typeface="Arial"/>
                <a:cs typeface="Arial"/>
              </a:rPr>
              <a:t xml:space="preserve">4/7 · Course 896141390025 · Work 896261051224 · 2026-10-28T04:52:49.354Z</a:t>
            </a:r>
            <a:endParaRPr lang="en-US" sz="960" b="0" dirty="0">
              <a:solidFill>
                <a:srgbClr val="555555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set surface"/>
          <p:cNvSpPr/>
          <p:nvPr/>
        </p:nvSpPr>
        <p:spPr>
          <a:xfrm>
            <a:off x="162560" y="162560"/>
            <a:ext cx="11866880" cy="6532880"/>
          </a:xfrm>
          <a:prstGeom prst="roundRect">
            <a:avLst>
              <a:gd name="adj" fmla="val 2488"/>
            </a:avLst>
          </a:prstGeom>
          <a:solidFill>
            <a:srgbClr val="FFF9EF"/>
          </a:solidFill>
          <a:ln w="10160" cap="rnd">
            <a:solidFill>
              <a:srgbClr val="F2E3D5"/>
            </a:solidFill>
            <a:prstDash val="solid"/>
          </a:ln>
        </p:spPr>
      </p:sp>
      <p:sp>
        <p:nvSpPr>
          <p:cNvPr id="3" name="Block 1 text"/>
          <p:cNvSpPr txBox="1"/>
          <p:nvPr/>
        </p:nvSpPr>
        <p:spPr>
          <a:xfrm>
            <a:off x="650240" y="508000"/>
            <a:ext cx="10891520" cy="1117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fontAlgn="base">
              <a:lnSpc>
                <a:spcPct val="139130"/>
              </a:lnSpc>
              <a:buNone/>
            </a:pPr>
            <a:r>
              <a:rPr lang="en-US" sz="288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 xml:space="preserve">Success criteria</a:t>
            </a:r>
            <a:endParaRPr lang="en-US" sz="2880" b="1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Block 2 text"/>
          <p:cNvSpPr txBox="1"/>
          <p:nvPr/>
        </p:nvSpPr>
        <p:spPr>
          <a:xfrm>
            <a:off x="650240" y="1828800"/>
            <a:ext cx="10891520" cy="3759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fontAlgn="base">
              <a:lnSpc>
                <a:spcPct val="139130"/>
              </a:lnSpc>
              <a:buNone/>
            </a:pPr>
            <a:r>
              <a:rPr lang="en-US" sz="1920" b="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 xml:space="preserve">correct solutions 6 points, justified steps and checks 4 points</a:t>
            </a:r>
            <a:endParaRPr lang="en-US" sz="1920" b="0" dirty="0">
              <a:solidFill>
                <a:srgbClr val="22222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Block 3 text"/>
          <p:cNvSpPr txBox="1"/>
          <p:nvPr/>
        </p:nvSpPr>
        <p:spPr>
          <a:xfrm>
            <a:off x="650240" y="6197600"/>
            <a:ext cx="1089152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fontAlgn="base">
              <a:lnSpc>
                <a:spcPct val="139130"/>
              </a:lnSpc>
              <a:buNone/>
            </a:pPr>
            <a:r>
              <a:rPr lang="en-US" sz="960" b="0" dirty="0">
                <a:solidFill>
                  <a:srgbClr val="555555"/>
                </a:solidFill>
                <a:latin typeface="Arial"/>
                <a:ea typeface="Arial"/>
                <a:cs typeface="Arial"/>
              </a:rPr>
              <a:t xml:space="preserve">5/7 · Course 896141390025 · Work 896261051224 · 2026-10-28T04:52:49.354Z</a:t>
            </a:r>
            <a:endParaRPr lang="en-US" sz="960" b="0" dirty="0">
              <a:solidFill>
                <a:srgbClr val="555555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set surface"/>
          <p:cNvSpPr/>
          <p:nvPr/>
        </p:nvSpPr>
        <p:spPr>
          <a:xfrm>
            <a:off x="162560" y="162560"/>
            <a:ext cx="11866880" cy="6532880"/>
          </a:xfrm>
          <a:prstGeom prst="roundRect">
            <a:avLst>
              <a:gd name="adj" fmla="val 2488"/>
            </a:avLst>
          </a:prstGeom>
          <a:solidFill>
            <a:srgbClr val="FFF9EF"/>
          </a:solidFill>
          <a:ln w="10160" cap="rnd">
            <a:solidFill>
              <a:srgbClr val="F2E3D5"/>
            </a:solidFill>
            <a:prstDash val="solid"/>
          </a:ln>
        </p:spPr>
      </p:sp>
      <p:sp>
        <p:nvSpPr>
          <p:cNvPr id="3" name="Block 1 text"/>
          <p:cNvSpPr txBox="1"/>
          <p:nvPr/>
        </p:nvSpPr>
        <p:spPr>
          <a:xfrm>
            <a:off x="650240" y="508000"/>
            <a:ext cx="10891520" cy="1117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fontAlgn="base">
              <a:lnSpc>
                <a:spcPct val="139130"/>
              </a:lnSpc>
              <a:buNone/>
            </a:pPr>
            <a:r>
              <a:rPr lang="en-US" sz="288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 xml:space="preserve">Discuss and explain</a:t>
            </a:r>
            <a:endParaRPr lang="en-US" sz="2880" b="1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Block 2 text"/>
          <p:cNvSpPr txBox="1"/>
          <p:nvPr/>
        </p:nvSpPr>
        <p:spPr>
          <a:xfrm>
            <a:off x="650240" y="1828800"/>
            <a:ext cx="10891520" cy="3759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fontAlgn="base">
              <a:lnSpc>
                <a:spcPct val="139130"/>
              </a:lnSpc>
              <a:buNone/>
            </a:pPr>
            <a:r>
              <a:rPr lang="en-US" sz="1920" b="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 xml:space="preserve">Why must an operation be applied to both sides? Compare two valid solution paths and check by substitution.</a:t>
            </a:r>
            <a:endParaRPr lang="en-US" sz="1920" b="0" dirty="0">
              <a:solidFill>
                <a:srgbClr val="22222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Block 3 text"/>
          <p:cNvSpPr txBox="1"/>
          <p:nvPr/>
        </p:nvSpPr>
        <p:spPr>
          <a:xfrm>
            <a:off x="650240" y="6197600"/>
            <a:ext cx="1089152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fontAlgn="base">
              <a:lnSpc>
                <a:spcPct val="139130"/>
              </a:lnSpc>
              <a:buNone/>
            </a:pPr>
            <a:r>
              <a:rPr lang="en-US" sz="960" b="0" dirty="0">
                <a:solidFill>
                  <a:srgbClr val="555555"/>
                </a:solidFill>
                <a:latin typeface="Arial"/>
                <a:ea typeface="Arial"/>
                <a:cs typeface="Arial"/>
              </a:rPr>
              <a:t xml:space="preserve">6/7 · Course 896141390025 · Work 896261051224 · 2026-10-28T04:52:49.354Z</a:t>
            </a:r>
            <a:endParaRPr lang="en-US" sz="960" b="0" dirty="0">
              <a:solidFill>
                <a:srgbClr val="555555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set surface"/>
          <p:cNvSpPr/>
          <p:nvPr/>
        </p:nvSpPr>
        <p:spPr>
          <a:xfrm>
            <a:off x="162560" y="162560"/>
            <a:ext cx="11866880" cy="6532880"/>
          </a:xfrm>
          <a:prstGeom prst="roundRect">
            <a:avLst>
              <a:gd name="adj" fmla="val 2488"/>
            </a:avLst>
          </a:prstGeom>
          <a:solidFill>
            <a:srgbClr val="FFF9EF"/>
          </a:solidFill>
          <a:ln w="10160" cap="rnd">
            <a:solidFill>
              <a:srgbClr val="F2E3D5"/>
            </a:solidFill>
            <a:prstDash val="solid"/>
          </a:ln>
        </p:spPr>
      </p:sp>
      <p:sp>
        <p:nvSpPr>
          <p:cNvPr id="3" name="Block 1 text"/>
          <p:cNvSpPr txBox="1"/>
          <p:nvPr/>
        </p:nvSpPr>
        <p:spPr>
          <a:xfrm>
            <a:off x="650240" y="508000"/>
            <a:ext cx="10891520" cy="1117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fontAlgn="base">
              <a:lnSpc>
                <a:spcPct val="139130"/>
              </a:lnSpc>
              <a:buNone/>
            </a:pPr>
            <a:r>
              <a:rPr lang="en-US" sz="288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 xml:space="preserve">Assignment source</a:t>
            </a:r>
            <a:endParaRPr lang="en-US" sz="2880" b="1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Block 2 text"/>
          <p:cNvSpPr txBox="1"/>
          <p:nvPr/>
        </p:nvSpPr>
        <p:spPr>
          <a:xfrm>
            <a:off x="650240" y="1828800"/>
            <a:ext cx="10891520" cy="3759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fontAlgn="base">
              <a:lnSpc>
                <a:spcPct val="139130"/>
              </a:lnSpc>
              <a:buNone/>
            </a:pPr>
            <a:r>
              <a:rPr lang="en-US" sz="1920" b="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 xml:space="preserve">Course 896141390025</a:t>
            </a:r>
            <a:br/>
            <a:r>
              <a:rPr lang="en-US" sz="1920" b="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 xml:space="preserve">Coursework 896261051224</a:t>
            </a:r>
            <a:br/>
            <a:r>
              <a:rPr lang="en-US" sz="1920" b="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 xml:space="preserve">Fetched 2026-10-28T04:52:49.354Z</a:t>
            </a:r>
            <a:br/>
            <a:r>
              <a:rPr lang="en-US" sz="1920" b="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 xml:space="preserve">Synthetic customer demo · No roster, submissions or grades included.</a:t>
            </a:r>
            <a:endParaRPr lang="en-US" sz="1920" b="0" dirty="0">
              <a:solidFill>
                <a:srgbClr val="22222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Block 3 text"/>
          <p:cNvSpPr txBox="1"/>
          <p:nvPr/>
        </p:nvSpPr>
        <p:spPr>
          <a:xfrm>
            <a:off x="650240" y="6197600"/>
            <a:ext cx="1089152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fontAlgn="base">
              <a:lnSpc>
                <a:spcPct val="139130"/>
              </a:lnSpc>
              <a:buNone/>
            </a:pPr>
            <a:r>
              <a:rPr lang="en-US" sz="960" b="0" dirty="0">
                <a:solidFill>
                  <a:srgbClr val="555555"/>
                </a:solidFill>
                <a:latin typeface="Arial"/>
                <a:ea typeface="Arial"/>
                <a:cs typeface="Arial"/>
              </a:rPr>
              <a:t xml:space="preserve">7/7 · Course 896141390025 · Work 896261051224 · 2026-10-28T04:52:49.354Z</a:t>
            </a:r>
            <a:endParaRPr lang="en-US" sz="960" b="0" dirty="0">
              <a:solidFill>
                <a:srgbClr val="555555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orkspace">
  <a:themeElements>
    <a:clrScheme name="Workspace">
      <a:dk1>
        <a:sysClr val="windowText" lastClr="000000"/>
      </a:dk1>
      <a:lt1>
        <a:sysClr val="window" lastClr="FFFFFF"/>
      </a:lt1>
      <a:dk2>
        <a:srgbClr val="2B0B05"/>
      </a:dk2>
      <a:lt2>
        <a:srgbClr val="F5F1EB"/>
      </a:lt2>
      <a:accent1>
        <a:srgbClr val="FF6633"/>
      </a:accent1>
      <a:accent2>
        <a:srgbClr val="F6821F"/>
      </a:accent2>
      <a:accent3>
        <a:srgbClr val="FBAD41"/>
      </a:accent3>
      <a:accent4>
        <a:srgbClr val="747474"/>
      </a:accent4>
      <a:accent5>
        <a:srgbClr val="0A95FF"/>
      </a:accent5>
      <a:accent6>
        <a:srgbClr val="9B3FF6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  <a:font script="Jpan" typeface="Arial"/>
        <a:font script="Hang" typeface="Arial"/>
        <a:font script="Hans" typeface="Arial"/>
        <a:font script="Hant" typeface="Arial"/>
      </a:majorFont>
      <a:minorFont>
        <a:latin typeface="Arial"/>
        <a:ea typeface="Arial"/>
        <a:cs typeface="Arial"/>
        <a:font script="Jpan" typeface="Arial"/>
        <a:font script="Hang" typeface="Arial"/>
        <a:font script="Hans" typeface="Arial"/>
        <a:font script="Hant" typeface="Arial"/>
      </a:minorFont>
    </a:fontScheme>
    <a:fmtScheme name="Workspa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100000">
              <a:schemeClr val="phClr">
                <a:shade val="50000"/>
                <a:satMod val="20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</a:schemeClr>
            </a:gs>
            <a:gs pos="100000">
              <a:schemeClr val="phClr">
                <a:tint val="98000"/>
                <a:satMod val="130000"/>
                <a:shade val="90000"/>
              </a:schemeClr>
            </a:gs>
          </a:gsLst>
          <a:lin ang="162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Gadgets</Application>
  <PresentationFormat>Widescreen</PresentationFormat>
  <Slides>7</Slides>
  <Notes>0</Notes>
  <HiddenSlides>0</HiddenSlides>
  <MMClips>0</MMClips>
  <ScaleCrop>false</ScaleCrop>
  <HeadingPairs>
    <vt:vector size="2" baseType="variant">
      <vt:variant>
        <vt:lpstr>Slides</vt:lpstr>
      </vt:variant>
      <vt:variant>
        <vt:i4>7</vt:i4>
      </vt:variant>
    </vt:vector>
  </HeadingPairs>
  <TitlesOfParts>
    <vt:vector size="7" baseType="lpstr"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Cloudflare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Workspace Slides</dc:title>
  <dc:creator>Gadgets</dc:creator>
  <cp:lastModifiedBy>Gadgets</cp:lastModifiedBy>
  <cp:revision>1</cp:revision>
</cp:coreProperties>
</file>